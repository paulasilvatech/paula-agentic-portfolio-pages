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9576" y="868680"/>
            <a:ext cx="122712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0076AC"/>
                </a:solidFill>
                <a:latin typeface="Segoe UI"/>
              </a:rPr>
              <a:t>WHY PLATFORM ENGINEERING IS DECISIVE FOR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9576" y="1280160"/>
            <a:ext cx="1227124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900" b="1" i="0">
                <a:solidFill>
                  <a:srgbClr val="1A1A1A"/>
                </a:solidFill>
                <a:latin typeface="Segoe UI"/>
              </a:rPr>
              <a:t>AI doesn't fail at the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" y="1783080"/>
            <a:ext cx="1227124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900" b="1" i="0">
                <a:solidFill>
                  <a:srgbClr val="F25022"/>
                </a:solidFill>
                <a:latin typeface="Segoe UI"/>
              </a:rPr>
              <a:t>It fails at the platform underneath.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576" y="2697480"/>
            <a:ext cx="122712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737373"/>
                </a:solidFill>
                <a:latin typeface="Segoe UI"/>
              </a:rPr>
              <a:t>Agents amplify what is good or bad in your ecosystem. The platform decides which.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9576" y="3429000"/>
            <a:ext cx="5907024" cy="164592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9576" y="3593592"/>
            <a:ext cx="5907024" cy="3675888"/>
          </a:xfrm>
          <a:prstGeom prst="rect">
            <a:avLst/>
          </a:prstGeom>
          <a:solidFill>
            <a:srgbClr val="FF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53896" y="3749039"/>
            <a:ext cx="53583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B33816"/>
                </a:solidFill>
                <a:latin typeface="Segoe UI"/>
              </a:rPr>
              <a:t>WITHOUT PLATFORM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3896" y="4023360"/>
            <a:ext cx="53583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Segoe UI"/>
              </a:rPr>
              <a:t>AI amplifies the chaos that already exists.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46177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25022"/>
                </a:solidFill>
                <a:latin typeface="Segoe UI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1216" y="4663440"/>
            <a:ext cx="42153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Segoe UI"/>
              </a:rPr>
              <a:t>of GenAI pilots fail in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5029200"/>
            <a:ext cx="4215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37373"/>
                </a:solidFill>
                <a:latin typeface="Segoe UI"/>
              </a:rPr>
              <a:t>MIT NANDA, State of AI in Business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54864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25022"/>
                </a:solidFill>
                <a:latin typeface="Segoe UI"/>
              </a:rPr>
              <a:t>+91%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1216" y="5532120"/>
            <a:ext cx="42153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Segoe UI"/>
              </a:rPr>
              <a:t>increase in PR review time at team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6" y="5897880"/>
            <a:ext cx="4215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37373"/>
                </a:solidFill>
                <a:latin typeface="Segoe UI"/>
              </a:rPr>
              <a:t>Faros AI, 1,255 teams, 10,000+ devs (2026)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3896" y="6355079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25022"/>
                </a:solidFill>
                <a:latin typeface="Segoe UI"/>
              </a:rPr>
              <a:t>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1216" y="6400799"/>
            <a:ext cx="42153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Segoe UI"/>
              </a:rPr>
              <a:t>improvement in org-level delivery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1216" y="6766559"/>
            <a:ext cx="4215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37373"/>
                </a:solidFill>
                <a:latin typeface="Segoe UI"/>
              </a:rPr>
              <a:t>Faros AI: individual gains do not compound without platform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3429000"/>
            <a:ext cx="5907024" cy="164592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3800" y="3593592"/>
            <a:ext cx="5907024" cy="3675888"/>
          </a:xfrm>
          <a:prstGeom prst="rect">
            <a:avLst/>
          </a:prstGeom>
          <a:solidFill>
            <a:srgbClr val="F1F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749039"/>
            <a:ext cx="53583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5A8500"/>
                </a:solidFill>
                <a:latin typeface="Segoe UI"/>
              </a:rPr>
              <a:t>WITH RED HAT DEVELOPER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023360"/>
            <a:ext cx="53583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Segoe UI"/>
              </a:rPr>
              <a:t>Agents inherit context, identity, governance, by construction.</a:t>
            </a:r>
          </a:p>
        </p:txBody>
      </p:sp>
      <p:sp>
        <p:nvSpPr>
          <p:cNvPr id="24" name="Oval 23"/>
          <p:cNvSpPr/>
          <p:nvPr/>
        </p:nvSpPr>
        <p:spPr>
          <a:xfrm>
            <a:off x="7818120" y="4782312"/>
            <a:ext cx="91440" cy="91440"/>
          </a:xfrm>
          <a:prstGeom prst="ellipse">
            <a:avLst/>
          </a:prstGeom>
          <a:solidFill>
            <a:srgbClr val="5A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461772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A8500"/>
                </a:solidFill>
                <a:latin typeface="Segoe UI"/>
              </a:rPr>
              <a:t>Software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4617720"/>
            <a:ext cx="28895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Segoe UI"/>
              </a:rPr>
              <a:t>agents see every service, owner, dependency, API</a:t>
            </a:r>
          </a:p>
        </p:txBody>
      </p:sp>
      <p:sp>
        <p:nvSpPr>
          <p:cNvPr id="27" name="Oval 26"/>
          <p:cNvSpPr/>
          <p:nvPr/>
        </p:nvSpPr>
        <p:spPr>
          <a:xfrm>
            <a:off x="7818120" y="5422392"/>
            <a:ext cx="91440" cy="91440"/>
          </a:xfrm>
          <a:prstGeom prst="ellipse">
            <a:avLst/>
          </a:prstGeom>
          <a:solidFill>
            <a:srgbClr val="5A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52578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A8500"/>
                </a:solidFill>
                <a:latin typeface="Segoe UI"/>
              </a:rPr>
              <a:t>22 Golden Path Templates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5257800"/>
            <a:ext cx="28895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Segoe UI"/>
              </a:rPr>
              <a:t>policy and best practice encoded in every scaffold</a:t>
            </a:r>
          </a:p>
        </p:txBody>
      </p:sp>
      <p:sp>
        <p:nvSpPr>
          <p:cNvPr id="30" name="Oval 29"/>
          <p:cNvSpPr/>
          <p:nvPr/>
        </p:nvSpPr>
        <p:spPr>
          <a:xfrm>
            <a:off x="7818120" y="6062471"/>
            <a:ext cx="91440" cy="91440"/>
          </a:xfrm>
          <a:prstGeom prst="ellipse">
            <a:avLst/>
          </a:prstGeom>
          <a:solidFill>
            <a:srgbClr val="5A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5897879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A8500"/>
                </a:solidFill>
                <a:latin typeface="Segoe UI"/>
              </a:rPr>
              <a:t>TechDocs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5897879"/>
            <a:ext cx="28895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Segoe UI"/>
              </a:rPr>
              <a:t>documentation grounded in code, retrievable by agents</a:t>
            </a:r>
          </a:p>
        </p:txBody>
      </p:sp>
      <p:sp>
        <p:nvSpPr>
          <p:cNvPr id="33" name="Oval 32"/>
          <p:cNvSpPr/>
          <p:nvPr/>
        </p:nvSpPr>
        <p:spPr>
          <a:xfrm>
            <a:off x="7818120" y="6702551"/>
            <a:ext cx="91440" cy="91440"/>
          </a:xfrm>
          <a:prstGeom prst="ellipse">
            <a:avLst/>
          </a:prstGeom>
          <a:solidFill>
            <a:srgbClr val="5A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6537959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A8500"/>
                </a:solidFill>
                <a:latin typeface="Segoe UI"/>
              </a:rPr>
              <a:t>AI Chat in the Portal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37959"/>
            <a:ext cx="28895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Segoe UI"/>
              </a:rPr>
              <a:t>platform-native AI assistance, scoped to your stack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79576" y="7498079"/>
            <a:ext cx="91440" cy="4572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7320" y="7498079"/>
            <a:ext cx="1207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Segoe UI"/>
              </a:rPr>
              <a:t>Three Horizons = Red Hat Developer Hub on Azure Red Hat OpenShift. The platform layer that turns AI from a chaos amplifier into a capability multiplier.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9576" y="7973568"/>
            <a:ext cx="1227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37373"/>
                </a:solidFill>
                <a:latin typeface="Segoe UI"/>
              </a:rPr>
              <a:t>Paula Silva  |  Software Global Black Belt  |  Microsoft  |  paulasilva@microsoft.com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