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0"/>
    <p:restoredTop sz="94671"/>
  </p:normalViewPr>
  <p:slideViewPr>
    <p:cSldViewPr snapToGrid="0" snapToObjects="1">
      <p:cViewPr varScale="1">
        <p:scale>
          <a:sx n="104" d="100"/>
          <a:sy n="104" d="100"/>
        </p:scale>
        <p:origin x="23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79576" y="777240"/>
            <a:ext cx="12271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0076AC"/>
                </a:solidFill>
                <a:latin typeface="Segoe UI"/>
              </a:rPr>
              <a:t>WHY YOUR PLATFORM ALREADY KNOWS HOW TO DO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" y="1188720"/>
            <a:ext cx="122712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1A1A1A"/>
                </a:solidFill>
                <a:latin typeface="Segoe UI"/>
              </a:rPr>
              <a:t>Same primitives.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" y="1737360"/>
            <a:ext cx="122712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5A8500"/>
                </a:solidFill>
                <a:latin typeface="Segoe UI"/>
              </a:rPr>
              <a:t>New consumer.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9576" y="2697480"/>
            <a:ext cx="12271248" cy="50292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2779776"/>
            <a:ext cx="1197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0076AC"/>
                </a:solidFill>
                <a:latin typeface="Segoe UI"/>
              </a:rPr>
              <a:t>"Agents amplify what is good or bad in your ecosystem."  — Chris Aniszczyk, CTO of CNCF, KubeCon EU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34747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37373"/>
                </a:solidFill>
                <a:latin typeface="Segoe UI"/>
              </a:rPr>
              <a:t>CNCF FOUR PILLAR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2776" y="34747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37373"/>
                </a:solidFill>
                <a:latin typeface="Segoe UI"/>
              </a:rPr>
              <a:t>ORIGINALLY, FOR HUMAN 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1976" y="34747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5A8500"/>
                </a:solidFill>
                <a:latin typeface="Segoe UI"/>
              </a:rPr>
              <a:t>RE-EXPRESSED, FOR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39319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Segoe UI"/>
              </a:rPr>
              <a:t>Golden 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393192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Scaffolder templates that compress decisions for new services.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1976" y="393192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8500"/>
                </a:solidFill>
                <a:latin typeface="Segoe UI"/>
              </a:rPr>
              <a:t>Templates that scaffold agents themselves. An agent is a service; it deserves a template.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9576" y="4617720"/>
            <a:ext cx="12271248" cy="9144"/>
          </a:xfrm>
          <a:prstGeom prst="rect">
            <a:avLst/>
          </a:prstGeom>
          <a:solidFill>
            <a:srgbClr val="E5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9576" y="4709159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Segoe UI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2776" y="4709159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Policies humans must satisfy at deploy time. Compile-time errors for infra.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1976" y="4709159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8500"/>
                </a:solidFill>
                <a:latin typeface="Segoe UI"/>
              </a:rPr>
              <a:t>Policies agents satisfy at runtime: permission scope, data access, output filtering.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79576" y="5394960"/>
            <a:ext cx="12271248" cy="9144"/>
          </a:xfrm>
          <a:prstGeom prst="rect">
            <a:avLst/>
          </a:prstGeom>
          <a:solidFill>
            <a:srgbClr val="E5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9576" y="54864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Segoe UI"/>
              </a:rPr>
              <a:t>Safety Nets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548640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GitOps reconciliation, observability, progressive delivery.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1976" y="548640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8500"/>
                </a:solidFill>
                <a:latin typeface="Segoe UI"/>
              </a:rPr>
              <a:t>Drift detection, cost circuit breakers, output validation, prompt-injection recovery.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9576" y="6172200"/>
            <a:ext cx="12271248" cy="9144"/>
          </a:xfrm>
          <a:prstGeom prst="rect">
            <a:avLst/>
          </a:prstGeom>
          <a:solidFill>
            <a:srgbClr val="E5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9576" y="62636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Segoe UI"/>
              </a:rPr>
              <a:t>Manual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22776" y="626364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Human-in-the-loop on irreversible actions and high-impact deploys.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626364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8500"/>
                </a:solidFill>
                <a:latin typeface="Segoe UI"/>
              </a:rPr>
              <a:t>Approval gate for agent capability expansion. Elevated production deploy, AI edition.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79576" y="7360920"/>
            <a:ext cx="91440" cy="36576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17320" y="7360920"/>
            <a:ext cx="1207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Segoe UI"/>
              </a:rPr>
              <a:t>Red Hat Developer Hub on Azure Red Hat OpenShift = the platform you already understand, ready for the consumer you didn't know it could serve.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" y="7818120"/>
            <a:ext cx="1227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37373"/>
                </a:solidFill>
                <a:latin typeface="Segoe UI"/>
              </a:rPr>
              <a:t>OPTION A — recommended  ·  Paula Silva  |  Software Global Black Belt  |  Microsoft  |  paulasilva@microsoft.com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79576" y="777240"/>
            <a:ext cx="12271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B88500"/>
                </a:solidFill>
                <a:latin typeface="Segoe UI"/>
              </a:rPr>
              <a:t>PLATFORM ENGINEERING IS NOT A CHOICE ANYMORE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" y="1188720"/>
            <a:ext cx="122712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1A1A1A"/>
                </a:solidFill>
                <a:latin typeface="Segoe UI"/>
              </a:rPr>
              <a:t>The market already decided.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" y="1691640"/>
            <a:ext cx="122712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B88500"/>
                </a:solidFill>
                <a:latin typeface="Segoe UI"/>
              </a:rPr>
              <a:t>The question is whether you're early or 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" y="2606040"/>
            <a:ext cx="12271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737373"/>
                </a:solidFill>
                <a:latin typeface="Segoe UI"/>
              </a:rPr>
              <a:t>Internal Developer Platforms went from emerging to inevitable in 24 months. The data is unambiguous.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9576" y="3200400"/>
            <a:ext cx="4023360" cy="9144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9576" y="3291840"/>
            <a:ext cx="4023360" cy="169164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53896" y="3429000"/>
            <a:ext cx="3474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0076AC"/>
                </a:solidFill>
                <a:latin typeface="Segoe UI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3896" y="416052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Segoe UI"/>
              </a:rPr>
              <a:t>of organizations now operate Internal Developer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46177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737373"/>
                </a:solidFill>
                <a:latin typeface="Segoe UI"/>
              </a:rPr>
              <a:t>DORA 2025 Accelerate State of DevOps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3200400"/>
            <a:ext cx="4023360" cy="9144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94960" y="3291840"/>
            <a:ext cx="4023360" cy="1691640"/>
          </a:xfrm>
          <a:prstGeom prst="rect">
            <a:avLst/>
          </a:prstGeom>
          <a:solidFill>
            <a:srgbClr val="F1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3429000"/>
            <a:ext cx="3474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5A8500"/>
                </a:solidFill>
                <a:latin typeface="Segoe UI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16052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Segoe UI"/>
              </a:rPr>
              <a:t>of large engineering orgs will have dedicated platform teams by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6177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737373"/>
                </a:solidFill>
                <a:latin typeface="Segoe UI"/>
              </a:rPr>
              <a:t>Gartner: Build a Foundation for Platform Engineering with IDPs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0344" y="3200400"/>
            <a:ext cx="4023360" cy="9144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10344" y="3291840"/>
            <a:ext cx="4023360" cy="169164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84664" y="3429000"/>
            <a:ext cx="3474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B88500"/>
                </a:solidFill>
                <a:latin typeface="Segoe UI"/>
              </a:rPr>
              <a:t>$40B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4664" y="416052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Segoe UI"/>
              </a:rPr>
              <a:t>projected platform engineering market by 2032 (from $7B in 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4664" y="46177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737373"/>
                </a:solidFill>
                <a:latin typeface="Segoe UI"/>
              </a:rPr>
              <a:t>SNS Insider, Platform Engineering Market 2024-2032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5074920"/>
            <a:ext cx="12271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5A8500"/>
                </a:solidFill>
                <a:latin typeface="Segoe UI"/>
              </a:rPr>
              <a:t>AND THE OUTCOMES ARE ALREADY PROVEN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9576" y="5440680"/>
            <a:ext cx="4023360" cy="173736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79576" y="5440680"/>
            <a:ext cx="91440" cy="173736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53896" y="56235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Segoe UI"/>
              </a:rPr>
              <a:t>Spotify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6" y="608076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1,500+ merged PRs from AI agents on the Backstage platform team. 60-90% time savings on migration tasks.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3896" y="68580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737373"/>
                </a:solidFill>
                <a:latin typeface="Segoe UI"/>
              </a:rPr>
              <a:t>Niklas Gustavsson, Spotify Chief Architect (2026)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5440680"/>
            <a:ext cx="4023360" cy="173736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94960" y="5440680"/>
            <a:ext cx="91440" cy="173736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0" y="56235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Segoe UI"/>
              </a:rPr>
              <a:t>Thomson Reuters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608076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Agentic Platform Engineering Hub delivered 15x productivity gains and 70% automation across critical workflows.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8580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737373"/>
                </a:solidFill>
                <a:latin typeface="Segoe UI"/>
              </a:rPr>
              <a:t>Internal case study,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10344" y="5440680"/>
            <a:ext cx="4023360" cy="173736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10344" y="5440680"/>
            <a:ext cx="91440" cy="173736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84664" y="56235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Segoe UI"/>
              </a:rPr>
              <a:t>DORA Elite Performers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4" y="608076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98% more pull requests merged, 20-30% productivity gains for engineers using AI on a mature platform.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4664" y="68580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737373"/>
                </a:solidFill>
                <a:latin typeface="Segoe UI"/>
              </a:rPr>
              <a:t>DORA 2025 Accelerate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79576" y="7360920"/>
            <a:ext cx="91440" cy="36576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17320" y="7360920"/>
            <a:ext cx="1207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Red Hat Developer Hub on Azure Red Hat OpenShift = Three Horizons. The fastest path from "we should" to "we shipped". 90 days, jointly supported by Microsoft and Red Hat.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9576" y="7818120"/>
            <a:ext cx="1227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37373"/>
                </a:solidFill>
                <a:latin typeface="Segoe UI"/>
              </a:rPr>
              <a:t>OPTION D — market consensus / inevitability  ·  Paula Silva  |  Software Global Black Belt  |  Microsoft  |  paulasilva@microsoft.com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79576" y="777240"/>
            <a:ext cx="12271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B33816"/>
                </a:solidFill>
                <a:latin typeface="Segoe UI"/>
              </a:rPr>
              <a:t>WHEN YOU SKIP PLATFORM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9576" y="1188720"/>
            <a:ext cx="12271248" cy="9144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1325880"/>
            <a:ext cx="1188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1">
                <a:solidFill>
                  <a:srgbClr val="1A1A1A"/>
                </a:solidFill>
                <a:latin typeface="Segoe UI"/>
              </a:rPr>
              <a:t>"Agents amplify what is good or bad in your ecosystem."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55648"/>
            <a:ext cx="1188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737373"/>
                </a:solidFill>
                <a:latin typeface="Segoe UI"/>
              </a:rPr>
              <a:t>— Chris Aniszczyk, CTO of CNCF, KubeCon + CloudNativeCon Europe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9576" y="2423160"/>
            <a:ext cx="122712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Segoe UI"/>
              </a:rPr>
              <a:t>Skip platform engineering, and the agentic layer doesn't produce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3017520"/>
            <a:ext cx="122712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>
                <a:solidFill>
                  <a:srgbClr val="F25022"/>
                </a:solidFill>
                <a:latin typeface="Segoe UI"/>
              </a:rPr>
              <a:t>It produces an amplified mess.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9576" y="4434840"/>
            <a:ext cx="4023360" cy="9144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79576" y="4526279"/>
            <a:ext cx="4023360" cy="1737360"/>
          </a:xfrm>
          <a:prstGeom prst="rect">
            <a:avLst/>
          </a:prstGeom>
          <a:solidFill>
            <a:srgbClr val="F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53896" y="4709159"/>
            <a:ext cx="3474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B33816"/>
                </a:solidFill>
                <a:latin typeface="Segoe UI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6" y="5440679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of enterprise GenAI pilots fail to deliver measurable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6" y="59436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37373"/>
                </a:solidFill>
                <a:latin typeface="Segoe UI"/>
              </a:rPr>
              <a:t>MIT NANDA, State of AI in Business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4434840"/>
            <a:ext cx="4023360" cy="9144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94960" y="4526279"/>
            <a:ext cx="4023360" cy="173736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4709159"/>
            <a:ext cx="3474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B88500"/>
                </a:solidFill>
                <a:latin typeface="Segoe UI"/>
              </a:rPr>
              <a:t>+91%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440679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increase in PR review time, the new bottleneck after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9436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37373"/>
                </a:solidFill>
                <a:latin typeface="Segoe UI"/>
              </a:rPr>
              <a:t>Faros AI Productivity Paradox 2026 — n=1,255 teams, 10,000+ devs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10344" y="4434840"/>
            <a:ext cx="4023360" cy="9144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10344" y="4526279"/>
            <a:ext cx="4023360" cy="173736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84664" y="4709159"/>
            <a:ext cx="3474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0076AC"/>
                </a:solidFill>
                <a:latin typeface="Segoe UI"/>
              </a:rPr>
              <a:t>+38%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4664" y="5440679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exploitable vulnerabilities when AI ships before platform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4664" y="59436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37373"/>
                </a:solidFill>
                <a:latin typeface="Segoe UI"/>
              </a:rPr>
              <a:t>CrowdStrike 2026 Global Threat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9576" y="7360920"/>
            <a:ext cx="91440" cy="36576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17320" y="7360920"/>
            <a:ext cx="1207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Segoe UI"/>
              </a:rPr>
              <a:t>Three Horizons = Red Hat Developer Hub on Azure Red Hat OpenShift. The mess-prevention layer, jointly supported by Microsoft and Red Hat.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" y="7818120"/>
            <a:ext cx="1227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37373"/>
                </a:solidFill>
                <a:latin typeface="Segoe UI"/>
              </a:rPr>
              <a:t>OPTION B — visceral / quotable  ·  Paula Silva  |  Software Global Black Belt  |  Microsoft  |  paulasilva@microsoft.com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79576" y="777240"/>
            <a:ext cx="12271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0076AC"/>
                </a:solidFill>
                <a:latin typeface="Segoe UI"/>
              </a:rPr>
              <a:t>THE 100:1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" y="1188720"/>
            <a:ext cx="122712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23232"/>
                </a:solidFill>
                <a:latin typeface="Segoe UI"/>
              </a:rPr>
              <a:t>By 2028, agent-to-human ratio in the typical enterprise reaches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" y="1874519"/>
            <a:ext cx="12271248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0" b="1" i="0">
                <a:solidFill>
                  <a:srgbClr val="1A1A1A"/>
                </a:solidFill>
                <a:latin typeface="Segoe UI"/>
              </a:rPr>
              <a:t>100 :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" y="4937760"/>
            <a:ext cx="122712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323232"/>
                </a:solidFill>
                <a:latin typeface="Segoe UI"/>
              </a:rPr>
              <a:t>If each agent requires a human to manage its lifecycle, credentials, and audit, the model does not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9576" y="5760720"/>
            <a:ext cx="4023360" cy="73152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9576" y="5833872"/>
            <a:ext cx="4023360" cy="128016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08176" y="59893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076AC"/>
                </a:solidFill>
                <a:latin typeface="Segoe UI"/>
              </a:rPr>
              <a:t>IDENTITY AT AGENT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6309359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Workload Identity + Entra Agent ID. No long-lived credentials, no human in the credential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5760720"/>
            <a:ext cx="4023360" cy="73152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94960" y="5833872"/>
            <a:ext cx="4023360" cy="1280160"/>
          </a:xfrm>
          <a:prstGeom prst="rect">
            <a:avLst/>
          </a:prstGeom>
          <a:solidFill>
            <a:srgbClr val="F1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23560" y="59893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5A8500"/>
                </a:solidFill>
                <a:latin typeface="Segoe UI"/>
              </a:rPr>
              <a:t>LIFECYCLE AT AGENT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6309359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Golden Paths for agent provisioning. New agents onboarded by template, not ticket.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10344" y="5760720"/>
            <a:ext cx="4023360" cy="73152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610344" y="5833872"/>
            <a:ext cx="4023360" cy="128016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38944" y="59893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B88500"/>
                </a:solidFill>
                <a:latin typeface="Segoe UI"/>
              </a:rPr>
              <a:t>AUDIT AT AGENT 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38944" y="6309359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Trajectory observability + agent governance. Every action attributable,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9576" y="7360920"/>
            <a:ext cx="91440" cy="36576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17320" y="7360920"/>
            <a:ext cx="1207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Segoe UI"/>
              </a:rPr>
              <a:t>Source: CNCF Cloud-Native Agentic Standards 2026.  Three Horizons makes 100:1 operational on day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7818120"/>
            <a:ext cx="1227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37373"/>
                </a:solidFill>
                <a:latin typeface="Segoe UI"/>
              </a:rPr>
              <a:t>OPTION C — future-shock  ·  Paula Silva  |  Software Global Black Belt  |  Microsoft  |  paulasilva@microsoft.com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739</Words>
  <Application>Microsoft Macintosh PowerPoint</Application>
  <PresentationFormat>Custom</PresentationFormat>
  <Paragraphs>74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Paula Silva</cp:lastModifiedBy>
  <cp:revision>2</cp:revision>
  <dcterms:created xsi:type="dcterms:W3CDTF">2013-01-27T09:14:16Z</dcterms:created>
  <dcterms:modified xsi:type="dcterms:W3CDTF">2026-05-06T11:50:58Z</dcterms:modified>
  <cp:category/>
</cp:coreProperties>
</file>